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bhijeet 30/01/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Abhijeet 30/01/2026</a:t>
            </a:r>
          </a:p>
        </p:txBody>
      </p:sp>
      <p:sp>
        <p:nvSpPr>
          <p:cNvPr id="172" name="10b51 - StockPla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10b51 - StockPlan </a:t>
            </a:r>
          </a:p>
        </p:txBody>
      </p:sp>
      <p:sp>
        <p:nvSpPr>
          <p:cNvPr id="173" name="E*Trad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E*Trade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tock Plan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Stock Plan Overview</a:t>
            </a:r>
          </a:p>
        </p:txBody>
      </p:sp>
      <p:sp>
        <p:nvSpPr>
          <p:cNvPr id="176" name="Understanding Employee Equity Trading Controls"/>
          <p:cNvSpPr txBox="1"/>
          <p:nvPr>
            <p:ph type="body" idx="21"/>
          </p:nvPr>
        </p:nvSpPr>
        <p:spPr>
          <a:xfrm>
            <a:off x="1206500" y="2372962"/>
            <a:ext cx="21622154" cy="8378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42950">
              <a:defRPr sz="4950"/>
            </a:lvl1pPr>
          </a:lstStyle>
          <a:p>
            <a:pPr/>
            <a:r>
              <a:t>Understanding Employee Equity Trading Controls</a:t>
            </a:r>
          </a:p>
        </p:txBody>
      </p:sp>
      <p:sp>
        <p:nvSpPr>
          <p:cNvPr id="177" name="What is a Stock Plan?…"/>
          <p:cNvSpPr txBox="1"/>
          <p:nvPr>
            <p:ph type="body" idx="1"/>
          </p:nvPr>
        </p:nvSpPr>
        <p:spPr>
          <a:xfrm>
            <a:off x="1206500" y="3744614"/>
            <a:ext cx="22416748" cy="9263791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What is a Stock Plan?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Stock plans represent company securities granted to employees by their employer as part of compensation.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Why Restrictions Apply?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Employee trading is governed by regulatory and company compliance requirements and requires prior approval from the Stock Plan Admin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All trades must be planned and submitted in advance before execution.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Key Controls Enforced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Pre-approval of trading plans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Defined waiting (cooling-off) periods</a:t>
            </a:r>
          </a:p>
          <a:p>
            <a:pPr lvl="2" marL="1408175" indent="-469391" defTabSz="1877520">
              <a:spcBef>
                <a:spcPts val="3400"/>
              </a:spcBef>
              <a:defRPr sz="3696"/>
            </a:pPr>
            <a:r>
              <a:t>Compliance checks before execution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ule 10b5-1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Rule 10b5-1 Overview</a:t>
            </a:r>
          </a:p>
        </p:txBody>
      </p:sp>
      <p:sp>
        <p:nvSpPr>
          <p:cNvPr id="180" name="Preventing Insider Trading Through Pre-Planned Trad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Preventing Insider Trading Through Pre-Planned Trades</a:t>
            </a:r>
          </a:p>
        </p:txBody>
      </p:sp>
      <p:sp>
        <p:nvSpPr>
          <p:cNvPr id="181" name="Buy or sell securities while aware of material, non-public information (MNPI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409700" indent="-1270000">
              <a:buFont typeface="Times Roman"/>
            </a:pPr>
            <a:r>
              <a:t>Buy or sell securities while aware of </a:t>
            </a:r>
            <a:r>
              <a:rPr b="1"/>
              <a:t>material, non-public information (MNPI)</a:t>
            </a:r>
          </a:p>
          <a:p>
            <a:pPr marL="1409700" indent="-1270000">
              <a:buFont typeface="Times Roman"/>
            </a:pPr>
            <a:r>
              <a:t>Trade in </a:t>
            </a:r>
            <a:r>
              <a:t>breach of a duty of trust or confidence</a:t>
            </a:r>
          </a:p>
          <a:p>
            <a:pPr marL="1409700" indent="-1270000">
              <a:buFont typeface="Times Roman"/>
            </a:pPr>
            <a:r>
              <a:t>Act with </a:t>
            </a:r>
            <a:r>
              <a:t>intent to defraud</a:t>
            </a:r>
          </a:p>
          <a:p>
            <a:pPr marL="1409700" indent="-1270000">
              <a:buFont typeface="Times Roman"/>
            </a:pPr>
            <a:r>
              <a:t>Engage in </a:t>
            </a:r>
            <a:r>
              <a:rPr b="1"/>
              <a:t>reckless disregard</a:t>
            </a:r>
            <a:r>
              <a:t> of securities laws</a:t>
            </a:r>
          </a:p>
          <a:p>
            <a:pPr marL="1409700" indent="-1270000">
              <a:buFont typeface="Times Roman"/>
            </a:pPr>
            <a:r>
              <a:t>Use MNPI to </a:t>
            </a:r>
            <a:r>
              <a:t>gain an unfair trading advantage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dmin View – Plan Govern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Admin View – Plan Governance</a:t>
            </a:r>
          </a:p>
        </p:txBody>
      </p:sp>
      <p:sp>
        <p:nvSpPr>
          <p:cNvPr id="184" name="Plan Governance, Compliance, and Oversight"/>
          <p:cNvSpPr txBox="1"/>
          <p:nvPr>
            <p:ph type="body" idx="21"/>
          </p:nvPr>
        </p:nvSpPr>
        <p:spPr>
          <a:xfrm>
            <a:off x="1206500" y="2398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Plan Governance, Compliance, and Oversight</a:t>
            </a:r>
          </a:p>
        </p:txBody>
      </p:sp>
      <p:sp>
        <p:nvSpPr>
          <p:cNvPr id="185" name="Define and manage plan packages for employe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Define and manage plan packages for employees</a:t>
            </a:r>
          </a:p>
          <a:p>
            <a:pPr/>
            <a:r>
              <a:t>Assign and maintain custom plan packages per participant</a:t>
            </a:r>
          </a:p>
          <a:p>
            <a:pPr/>
            <a:r>
              <a:t>Update or retire existing plan packages</a:t>
            </a:r>
          </a:p>
          <a:p>
            <a:pPr/>
            <a:r>
              <a:t>Approve or reject employee-submitted plans based on compliance checks</a:t>
            </a:r>
          </a:p>
          <a:p>
            <a:pPr/>
            <a:r>
              <a:t>Access reports and compliance summaries</a:t>
            </a:r>
          </a:p>
          <a:p>
            <a:pPr/>
            <a:r>
              <a:t>Execute trades on behalf of employees when requested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articipant View – Plan Exec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Participant View – Plan Execution</a:t>
            </a:r>
          </a:p>
        </p:txBody>
      </p:sp>
      <p:sp>
        <p:nvSpPr>
          <p:cNvPr id="188" name="Plan Creation and Execution Capabiliti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Plan Creation and Execution Capabilities</a:t>
            </a:r>
          </a:p>
        </p:txBody>
      </p:sp>
      <p:sp>
        <p:nvSpPr>
          <p:cNvPr id="189" name="Create custom buy/sell plans for securiti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Create custom buy/sell plans for securities</a:t>
            </a:r>
          </a:p>
          <a:p>
            <a:pPr/>
            <a:r>
              <a:t>Submit custom plans to Admin for approval</a:t>
            </a:r>
          </a:p>
          <a:p>
            <a:pPr/>
            <a:r>
              <a:t>Modify submitted plans (before execution)</a:t>
            </a:r>
          </a:p>
          <a:p>
            <a:pPr/>
            <a:r>
              <a:t>Plan execution starts after a </a:t>
            </a:r>
            <a:r>
              <a:rPr b="1"/>
              <a:t>30-day waiting period</a:t>
            </a:r>
            <a:br/>
            <a:r>
              <a:t>(Waiting period configurable by Admin)</a:t>
            </a:r>
          </a:p>
          <a:p>
            <a:pPr/>
            <a:r>
              <a:t>Track plan status and approval history</a:t>
            </a:r>
          </a:p>
          <a:p>
            <a:pPr/>
            <a:r>
              <a:t>View execution details and transaction history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dmin Flow"/>
          <p:cNvSpPr txBox="1"/>
          <p:nvPr>
            <p:ph type="title"/>
          </p:nvPr>
        </p:nvSpPr>
        <p:spPr>
          <a:xfrm>
            <a:off x="980983" y="1079972"/>
            <a:ext cx="21971001" cy="1434950"/>
          </a:xfrm>
          <a:prstGeom prst="rect">
            <a:avLst/>
          </a:prstGeom>
        </p:spPr>
        <p:txBody>
          <a:bodyPr/>
          <a:lstStyle/>
          <a:p>
            <a:pPr/>
            <a:r>
              <a:t>Admin Flow</a:t>
            </a:r>
          </a:p>
        </p:txBody>
      </p:sp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290" y="3255714"/>
            <a:ext cx="23477420" cy="87134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articipant 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Participant Flow </a:t>
            </a:r>
          </a:p>
        </p:txBody>
      </p:sp>
      <p:pic>
        <p:nvPicPr>
          <p:cNvPr id="1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2896" y="3493454"/>
            <a:ext cx="23558208" cy="96116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omplete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Complete Architecture</a:t>
            </a:r>
          </a:p>
        </p:txBody>
      </p:sp>
      <p:sp>
        <p:nvSpPr>
          <p:cNvPr id="198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92711" y="3613942"/>
            <a:ext cx="24769422" cy="95251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hank You"/>
          <p:cNvSpPr txBox="1"/>
          <p:nvPr>
            <p:ph type="title"/>
          </p:nvPr>
        </p:nvSpPr>
        <p:spPr>
          <a:xfrm>
            <a:off x="896414" y="3954838"/>
            <a:ext cx="21971001" cy="3506861"/>
          </a:xfrm>
          <a:prstGeom prst="rect">
            <a:avLst/>
          </a:prstGeom>
        </p:spPr>
        <p:txBody>
          <a:bodyPr/>
          <a:lstStyle>
            <a:lvl1pPr algn="ctr" defTabSz="2170121">
              <a:defRPr spc="-222" sz="2225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